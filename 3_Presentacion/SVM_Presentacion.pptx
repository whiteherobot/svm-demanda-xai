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166360"/>
            <a:ext cx="12191695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SVM para Predicción de Demanda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BCCEE"/>
                </a:solidFill>
              </a:rPr>
              <a:t>Machine Learning Supervisado · SVR + SVC + Explicabilidad (XAI)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647" y="3749039"/>
            <a:ext cx="2377440" cy="1051560"/>
          </a:xfrm>
          <a:prstGeom prst="rect">
            <a:avLst/>
          </a:prstGeom>
          <a:solidFill>
            <a:srgbClr val="26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6647" y="377647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196F3"/>
                </a:solidFill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647" y="425196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CDD"/>
                </a:solidFill>
              </a:rPr>
              <a:t>Productos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26967" y="3749039"/>
            <a:ext cx="2377440" cy="1051560"/>
          </a:xfrm>
          <a:prstGeom prst="rect">
            <a:avLst/>
          </a:prstGeom>
          <a:solidFill>
            <a:srgbClr val="26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6967" y="377647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196F3"/>
                </a:solidFill>
              </a:rPr>
              <a:t>1,830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6967" y="425196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CDD"/>
                </a:solidFill>
              </a:rPr>
              <a:t>Registros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7287" y="3749039"/>
            <a:ext cx="2377440" cy="1051560"/>
          </a:xfrm>
          <a:prstGeom prst="rect">
            <a:avLst/>
          </a:prstGeom>
          <a:solidFill>
            <a:srgbClr val="26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7287" y="377647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196F3"/>
                </a:solidFill>
              </a:rPr>
              <a:t>183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7287" y="425196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CDD"/>
                </a:solidFill>
              </a:rPr>
              <a:t>Días de historia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47607" y="3749039"/>
            <a:ext cx="2377440" cy="1051560"/>
          </a:xfrm>
          <a:prstGeom prst="rect">
            <a:avLst/>
          </a:prstGeom>
          <a:solidFill>
            <a:srgbClr val="26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47607" y="377647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196F3"/>
                </a:solidFill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47607" y="425196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CDD"/>
                </a:solidFill>
              </a:rPr>
              <a:t>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30936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99AA"/>
                </a:solidFill>
              </a:rPr>
              <a:t>Técnicas de ML Supervisado · Michael Lata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6968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109728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SVR: Predicción de Demanda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1264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CCDD"/>
                </a:solidFill>
              </a:rPr>
              <a:t>Kernel RBF · C=10 · γ=0.05 · ε=0.5 · Pipeline(StandardScaler + SVR)</a:t>
            </a:r>
          </a:p>
        </p:txBody>
      </p:sp>
      <p:pic>
        <p:nvPicPr>
          <p:cNvPr id="6" name="Picture 5" descr="g1_s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05840"/>
            <a:ext cx="8229600" cy="397763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732520" y="1078992"/>
            <a:ext cx="3246120" cy="1426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32520" y="1078992"/>
            <a:ext cx="64008" cy="14264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15400" y="11430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55555"/>
                </a:solidFill>
              </a:rPr>
              <a:t>RMSE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1463039"/>
            <a:ext cx="2926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B3A5C"/>
                </a:solidFill>
              </a:rPr>
              <a:t>2.17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20574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</a:rPr>
              <a:t>P2: 7.125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32520" y="2615184"/>
            <a:ext cx="3246120" cy="1426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32520" y="2615184"/>
            <a:ext cx="64008" cy="14264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2679191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55555"/>
                </a:solidFill>
              </a:rPr>
              <a:t>MAE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999232"/>
            <a:ext cx="2926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B3A5C"/>
                </a:solidFill>
              </a:rPr>
              <a:t>1.65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3593591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</a:rPr>
              <a:t>P2: 5.213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32520" y="4151376"/>
            <a:ext cx="3246120" cy="1426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32520" y="4151376"/>
            <a:ext cx="64008" cy="14264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400" y="421538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55555"/>
                </a:solidFill>
              </a:rPr>
              <a:t>R²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4535424"/>
            <a:ext cx="2926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B3A5C"/>
                </a:solidFill>
              </a:rPr>
              <a:t>0.909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512978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</a:rPr>
              <a:t>P2: 0.280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" y="512064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↑ El SVR supera al modelo de referencia (LSTM/Boosting) en las 3 métricas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6968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109728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SVC: Alerta de Alta Demanda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1264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CCDD"/>
                </a:solidFill>
              </a:rPr>
              <a:t>¿Las ventas del día siguiente superarán el percentil 75 por producto? → decisión de reposición de stock</a:t>
            </a:r>
          </a:p>
        </p:txBody>
      </p:sp>
      <p:pic>
        <p:nvPicPr>
          <p:cNvPr id="6" name="Picture 5" descr="g2_sv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5029200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109728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5C"/>
                </a:solidFill>
              </a:rPr>
              <a:t>¿Para qué sirve?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600200"/>
            <a:ext cx="6309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</a:rPr>
              <a:t>• Alta demanda = ventas &gt; p75 del producto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084832"/>
            <a:ext cx="6309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</a:rPr>
              <a:t>• Umbral calculado solo sobre el train (sin fuga de datos)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569464"/>
            <a:ext cx="6309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</a:rPr>
              <a:t>• El modelo emite una alerta diaria anticipando
  riesgo de quiebre de inventario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3054096"/>
            <a:ext cx="6309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538728"/>
            <a:ext cx="6309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3A5C"/>
                </a:solidFill>
              </a:rPr>
              <a:t>ROC-AUC: 0.752   (≥ 0.7 se considera útil en negocio)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4023360"/>
            <a:ext cx="6309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4507992"/>
            <a:ext cx="6309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Kernel RBF · C=10 · gamma=scale · class_weight=balanced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6968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109728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XAI: ¿Qué variables impulsan la demanda?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1264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CCDD"/>
                </a:solidFill>
              </a:rPr>
              <a:t>Importancia por permutación — cuánto aumenta el RMSE al desordenar aleatoriamente cada feature</a:t>
            </a:r>
          </a:p>
        </p:txBody>
      </p:sp>
      <p:pic>
        <p:nvPicPr>
          <p:cNvPr id="6" name="Picture 5" descr="g3_pe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87552"/>
            <a:ext cx="7589520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01000" y="1097280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3A5C"/>
                </a:solidFill>
              </a:rPr>
              <a:t>Hallazgos clave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0" y="1664208"/>
            <a:ext cx="3977639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01000" y="1664208"/>
            <a:ext cx="64008" cy="1143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17190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3A5C"/>
                </a:solidFill>
              </a:rPr>
              <a:t>lag_1 · rolling_mean_7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084832"/>
            <a:ext cx="37490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La demanda reciente es el
predictor más importante.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898648"/>
            <a:ext cx="3977639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2898648"/>
            <a:ext cx="64008" cy="1143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295351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3A5C"/>
                </a:solidFill>
              </a:rPr>
              <a:t>cantidad_vendida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3319272"/>
            <a:ext cx="37490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El nivel actual de ventas
correlaciona directamente.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4133088"/>
            <a:ext cx="3977639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4133088"/>
            <a:ext cx="64008" cy="1143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418795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3A5C"/>
                </a:solidFill>
              </a:rPr>
              <a:t>dias_desde_inicio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4553712"/>
            <a:ext cx="37490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Existe tendencia temporal
global en la demanda.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5367528"/>
            <a:ext cx="3977639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5367528"/>
            <a:ext cx="64008" cy="1143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542239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3A5C"/>
                </a:solidFill>
              </a:rPr>
              <a:t>Calendario y stock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5788152"/>
            <a:ext cx="37490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dia_semana, mes y stock
tienen efecto secundario.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6968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109728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XAI: Explicabilidad SHAP — Global y Local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1264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CCDD"/>
                </a:solidFill>
              </a:rPr>
              <a:t>SHAP atribuye a cada variable su contribución exacta en cada predicción individual</a:t>
            </a:r>
          </a:p>
        </p:txBody>
      </p:sp>
      <p:pic>
        <p:nvPicPr>
          <p:cNvPr id="6" name="Picture 5" descr="g4_b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05840"/>
            <a:ext cx="5943600" cy="3749039"/>
          </a:xfrm>
          <a:prstGeom prst="rect">
            <a:avLst/>
          </a:prstGeom>
        </p:spPr>
      </p:pic>
      <p:pic>
        <p:nvPicPr>
          <p:cNvPr id="7" name="Picture 6" descr="g5_wa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005840"/>
            <a:ext cx="5806440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7160" y="480060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</a:rPr>
              <a:t>Beeswarm: impacto de todos los días
(rojo=valor alto · azul=valor bajo)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9632" y="4800600"/>
            <a:ext cx="5806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</a:rPr>
              <a:t>Waterfall: por qué el modelo predijo 36 u.
el día de máxima demanda predicha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532120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B3A5C"/>
                </a:solidFill>
              </a:rPr>
              <a:t>Permutación, PDP y SHAP señalan los mismos factores → el modelo es coherente, interpretable y de confianza.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