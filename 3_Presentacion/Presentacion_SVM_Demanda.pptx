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Máquinas de Soporte Vectorial (SVM)</a:t>
            </a:r>
          </a:p>
          <a:p>
            <a:pPr>
              <a:defRPr sz="2600">
                <a:solidFill>
                  <a:srgbClr val="D5E2F5"/>
                </a:solidFill>
              </a:defRPr>
            </a:pPr>
            <a:r>
              <a:t>Predicción de demanda y explicabilidad (XAI)</a:t>
            </a:r>
          </a:p>
          <a:p>
            <a:pPr>
              <a:spcBef>
                <a:spcPts val="2000"/>
              </a:spcBef>
              <a:defRPr sz="1800">
                <a:solidFill>
                  <a:srgbClr val="D5E2F5"/>
                </a:solidFill>
              </a:defRPr>
            </a:pPr>
            <a:r>
              <a:t>Michael Lata  ·  Técnicas de ML Supervisado</a:t>
            </a:r>
          </a:p>
          <a:p>
            <a:pPr>
              <a:defRPr sz="1600" i="1">
                <a:solidFill>
                  <a:srgbClr val="D5E2F5"/>
                </a:solidFill>
              </a:defRPr>
            </a:pPr>
            <a:r>
              <a:t>Informe teórico  +  Notebook de modelado  +  Notebook de XAI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SVM y vectores de soporte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2926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E50A0"/>
                </a:solidFill>
              </a:defRPr>
            </a:pPr>
            <a:r>
              <a:t>Idea: hallar el hiperplano que MAXIMIZA EL MARGEN entre clases.</a:t>
            </a:r>
          </a:p>
          <a:p>
            <a:pPr>
              <a:spcAft>
                <a:spcPts val="600"/>
              </a:spcAft>
              <a:defRPr sz="1800" b="0">
                <a:solidFill>
                  <a:srgbClr val="404040"/>
                </a:solidFill>
              </a:defRPr>
            </a:pPr>
            <a:r>
              <a:t>Vectores de soporte = los únicos puntos que definen el hiperplano; el resto no influye.</a:t>
            </a:r>
          </a:p>
          <a:p>
            <a:pPr>
              <a:spcAft>
                <a:spcPts val="600"/>
              </a:spcAft>
              <a:defRPr sz="1800" b="1">
                <a:solidFill>
                  <a:srgbClr val="404040"/>
                </a:solidFill>
              </a:defRPr>
            </a:pPr>
            <a:r>
              <a:t>Proceso interno (condiciones KKT) — clasifica cada punto por su αᵢ: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αᵢ = 0 → no es vector de soporte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0 &lt; αᵢ &lt; C → vector de soporte libre (fija b)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αᵢ = C → vector de soporte acotado (dentro/viola el margen)</a:t>
            </a:r>
          </a:p>
          <a:p>
            <a:pPr>
              <a:spcAft>
                <a:spcPts val="600"/>
              </a:spcAft>
              <a:defRPr sz="1800" b="1">
                <a:solidFill>
                  <a:srgbClr val="C82828"/>
                </a:solidFill>
              </a:defRPr>
            </a:pPr>
            <a:r>
              <a:t>Decisión: f(x) = sign( Σ_SV αᵢ yᵢ K(xᵢ,x) + b ) — suma SOLO sobre vectores de soporte.</a:t>
            </a:r>
          </a:p>
          <a:p>
            <a:pPr>
              <a:spcAft>
                <a:spcPts val="600"/>
              </a:spcAft>
              <a:defRPr sz="1800" b="0">
                <a:solidFill>
                  <a:srgbClr val="404040"/>
                </a:solidFill>
              </a:defRPr>
            </a:pPr>
            <a:r>
              <a:t>Kernel trick: proyecta a más dimensiones para separar lo no lineal (RBF por defecto).</a:t>
            </a:r>
          </a:p>
          <a:p>
            <a:pPr>
              <a:spcAft>
                <a:spcPts val="600"/>
              </a:spcAft>
              <a:defRPr sz="1800" b="0">
                <a:solidFill>
                  <a:srgbClr val="404040"/>
                </a:solidFill>
              </a:defRPr>
            </a:pPr>
            <a:r>
              <a:t>SVR: misma idea para regresión, ajustando dentro de un tubo de ancho 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Aplicación: predicción de demanda (SVM/SVR)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2926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50A0"/>
                </a:solidFill>
              </a:defRPr>
            </a:pPr>
            <a:r>
              <a:t>Dataset de la Práctica 2: histórico de ventas de 10 productos (~180 días c/u).</a:t>
            </a:r>
          </a:p>
          <a:p>
            <a:pPr>
              <a:spcAft>
                <a:spcPts val="600"/>
              </a:spcAft>
              <a:defRPr sz="1700" b="0">
                <a:solidFill>
                  <a:srgbClr val="404040"/>
                </a:solidFill>
              </a:defRPr>
            </a:pPr>
            <a:r>
              <a:t>Mismas 12 features que la práctica: lags, medias móviles, calendario, stock, categoría.</a:t>
            </a:r>
          </a:p>
          <a:p>
            <a:pPr>
              <a:spcAft>
                <a:spcPts val="600"/>
              </a:spcAft>
              <a:defRPr sz="1700" b="0">
                <a:solidFill>
                  <a:srgbClr val="404040"/>
                </a:solidFill>
              </a:defRPr>
            </a:pPr>
            <a:r>
              <a:t>Pipeline robusto: StandardScaler + SVR(RBF) · GridSearchCV · split temporal (sin fuga).</a:t>
            </a:r>
          </a:p>
          <a:p>
            <a:pPr>
              <a:spcAft>
                <a:spcPts val="600"/>
              </a:spcAft>
              <a:defRPr sz="1800" b="1">
                <a:solidFill>
                  <a:srgbClr val="404040"/>
                </a:solidFill>
              </a:defRPr>
            </a:pPr>
            <a:r>
              <a:t>Resultado: el SVR SUPERA al modelo de la práctica (LSTM/boosting):</a:t>
            </a:r>
          </a:p>
          <a:p>
            <a:pPr lvl="1">
              <a:spcAft>
                <a:spcPts val="600"/>
              </a:spcAft>
              <a:defRPr sz="1800" b="1">
                <a:solidFill>
                  <a:srgbClr val="C82828"/>
                </a:solidFill>
              </a:defRPr>
            </a:pPr>
            <a:r>
              <a:t>R² 0.42 vs 0.28   ·   RMSE 5.1 vs 7.1   ·   MAE 3.6 vs 5.2</a:t>
            </a:r>
          </a:p>
          <a:p>
            <a:pPr>
              <a:spcAft>
                <a:spcPts val="600"/>
              </a:spcAft>
              <a:defRPr sz="1700" b="0">
                <a:solidFill>
                  <a:srgbClr val="404040"/>
                </a:solidFill>
              </a:defRPr>
            </a:pPr>
            <a:r>
              <a:t>Caso de negocio extra (SVC): alerta de días de alta demanda (ROC-AUC 0.70).</a:t>
            </a:r>
          </a:p>
          <a:p>
            <a:pPr>
              <a:spcAft>
                <a:spcPts val="600"/>
              </a:spcAft>
              <a:defRPr sz="1700" b="1">
                <a:solidFill>
                  <a:srgbClr val="1E50A0"/>
                </a:solidFill>
              </a:defRPr>
            </a:pPr>
            <a:r>
              <a:t>Ventaja para la empresa: determinista, entrena en segundos, sin GPU, fácil de mantener.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XAI: explicando el modelo de demanda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2926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50A0"/>
                </a:solidFill>
              </a:defRPr>
            </a:pPr>
            <a:r>
              <a:t>Problema: el SVR-RBF es una caja negra → una empresa necesita entender por qué predice.</a:t>
            </a:r>
          </a:p>
          <a:p>
            <a:pPr>
              <a:spcAft>
                <a:spcPts val="600"/>
              </a:spcAft>
              <a:defRPr sz="1800" b="1">
                <a:solidFill>
                  <a:srgbClr val="404040"/>
                </a:solidFill>
              </a:defRPr>
            </a:pPr>
            <a:r>
              <a:t>Tres técnicas complementarias: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Importancia por permutación → ranking de factores de la demanda.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PDP → forma con que cada factor afecta la demanda.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SHAP → atribución global (beeswarm) y LOCAL por día (waterfall).</a:t>
            </a:r>
          </a:p>
          <a:p>
            <a:pPr>
              <a:spcAft>
                <a:spcPts val="600"/>
              </a:spcAft>
              <a:defRPr sz="1800" b="1">
                <a:solidFill>
                  <a:srgbClr val="C82828"/>
                </a:solidFill>
              </a:defRPr>
            </a:pPr>
            <a:r>
              <a:t>Factores que mandan: media móvil 7d, día de la semana, fin de semana, proporción de stock.</a:t>
            </a:r>
          </a:p>
          <a:p>
            <a:pPr>
              <a:spcAft>
                <a:spcPts val="600"/>
              </a:spcAft>
              <a:defRPr sz="1800" b="0">
                <a:solidFill>
                  <a:srgbClr val="404040"/>
                </a:solidFill>
              </a:defRPr>
            </a:pPr>
            <a:r>
              <a:t>Valor: anticipar reposiciones y JUSTIFICAR cada alerta → confianza y trazabilidad.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Los tres métodos coinciden en los factores top → da confianza en la interpretación.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2926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E50A0"/>
                </a:solidFill>
              </a:defRPr>
            </a:pPr>
            <a:r>
              <a:t>Teoría → práctica: implementamos toda la cadena SVM y verificamos numéricamente el proceso interno (reconstrucción de w, b y f(x) solo desde vectores de soporte).</a:t>
            </a:r>
          </a:p>
          <a:p>
            <a:pPr>
              <a:spcAft>
                <a:spcPts val="600"/>
              </a:spcAft>
              <a:defRPr sz="1900" b="0">
                <a:solidFill>
                  <a:srgbClr val="404040"/>
                </a:solidFill>
              </a:defRPr>
            </a:pPr>
            <a:r>
              <a:t>Sobre el dataset de la Práctica 2, SVR IGUALA Y SUPERA a modelos más complejos (LSTM/boosting).</a:t>
            </a:r>
          </a:p>
          <a:p>
            <a:pPr>
              <a:spcAft>
                <a:spcPts val="600"/>
              </a:spcAft>
              <a:defRPr sz="1900" b="1">
                <a:solidFill>
                  <a:srgbClr val="C82828"/>
                </a:solidFill>
              </a:defRPr>
            </a:pPr>
            <a:r>
              <a:t>Más atractiva para empresas: determinista, ligera, sin GPU, robusta con pocos datos y EXPLICABLE.</a:t>
            </a:r>
          </a:p>
          <a:p>
            <a:pPr>
              <a:spcAft>
                <a:spcPts val="600"/>
              </a:spcAft>
              <a:defRPr sz="1900" b="0">
                <a:solidFill>
                  <a:srgbClr val="404040"/>
                </a:solidFill>
              </a:defRPr>
            </a:pPr>
            <a:r>
              <a:t>XAI (permutación + PDP + SHAP) convierte la caja negra en decisiones auditables de negocio.</a:t>
            </a:r>
          </a:p>
          <a:p>
            <a:pPr>
              <a:spcAft>
                <a:spcPts val="600"/>
              </a:spcAft>
              <a:defRPr sz="1800" b="1">
                <a:solidFill>
                  <a:srgbClr val="404040"/>
                </a:solidFill>
              </a:defRPr>
            </a:pPr>
            <a:r>
              <a:t>Entregables: informe (PDF), 3 notebooks ejecutados y esta presentación — todo reproducible.</a:t>
            </a:r>
          </a:p>
          <a:p>
            <a:pPr>
              <a:spcAft>
                <a:spcPts val="600"/>
              </a:spcAft>
              <a:defRPr sz="1600" b="0">
                <a:solidFill>
                  <a:srgbClr val="404040"/>
                </a:solidFill>
              </a:defRPr>
            </a:pPr>
            <a:r>
              <a:t>Trabajo futuro: más productos/SKUs, horizonte semanal, variables de promociones y precio.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